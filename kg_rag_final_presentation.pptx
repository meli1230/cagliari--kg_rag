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035808"/>
            <a:ext cx="1371600" cy="508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KG-Augmented RAG over arXiv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C9D1E0"/>
                </a:solidFill>
              </a:rPr>
              <a:t>A hybrid question-answering assistant combining semantic retrieval over abstracts
with SPARQL queries over a metadata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9496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734A"/>
                </a:solidFill>
              </a:rPr>
              <a:t>Final presentation — domain · architecture · security tests · limitations</a:t>
            </a:r>
          </a:p>
          <a:p>
            <a:r>
              <a:rPr sz="1300">
                <a:solidFill>
                  <a:srgbClr val="939DB3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72768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2A44"/>
                </a:solidFill>
              </a:rPr>
              <a:t>Domain &amp; dataset</a:t>
            </a:r>
          </a:p>
          <a:p>
            <a:r>
              <a:rPr sz="1400">
                <a:solidFill>
                  <a:srgbClr val="5A606B"/>
                </a:solidFill>
              </a:rPr>
              <a:t>arXiv metadata, a reproducible 100-paper AI/ML sample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61488"/>
            <a:ext cx="502920" cy="502920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88336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2A44"/>
                </a:solidFill>
              </a:rPr>
              <a:t>Architecture</a:t>
            </a:r>
          </a:p>
          <a:p>
            <a:r>
              <a:rPr sz="1400">
                <a:solidFill>
                  <a:srgbClr val="5A606B"/>
                </a:solidFill>
              </a:rPr>
              <a:t>a deterministic KG build + an LLM-driven hybrid query 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77056"/>
            <a:ext cx="502920" cy="502920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803904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2A44"/>
                </a:solidFill>
              </a:rPr>
              <a:t>Security tests &amp; outcomes</a:t>
            </a:r>
          </a:p>
          <a:p>
            <a:r>
              <a:rPr sz="1400">
                <a:solidFill>
                  <a:srgbClr val="5A606B"/>
                </a:solidFill>
              </a:rPr>
              <a:t>prompt injection, SPARQL injection, hallucination probes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992624"/>
            <a:ext cx="502920" cy="502920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19472"/>
            <a:ext cx="9692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2A44"/>
                </a:solidFill>
              </a:rPr>
              <a:t>Limitations</a:t>
            </a:r>
          </a:p>
          <a:p>
            <a:r>
              <a:rPr sz="1400">
                <a:solidFill>
                  <a:srgbClr val="5A606B"/>
                </a:solidFill>
              </a:rPr>
              <a:t>entity resolution, coverage, scale — and what we would fix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1 ·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Domain &amp;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Domain — </a:t>
            </a:r>
            <a:r>
              <a:rPr sz="1700">
                <a:solidFill>
                  <a:srgbClr val="333842"/>
                </a:solidFill>
              </a:rPr>
              <a:t>scholarly literature: the arXiv open-access repository (bibliographic metadata + abstracts)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Source — </a:t>
            </a:r>
            <a:r>
              <a:rPr sz="1700">
                <a:solidFill>
                  <a:srgbClr val="333842"/>
                </a:solidFill>
              </a:rPr>
              <a:t>the arXiv metadata snapshot (Kaggle / Cornell University): ~3.1M papers, ~5 GB of JSONL, one record per paper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Scope — </a:t>
            </a:r>
            <a:r>
              <a:rPr sz="1700">
                <a:solidFill>
                  <a:srgbClr val="333842"/>
                </a:solidFill>
              </a:rPr>
              <a:t>the AI/ML slice: cs.AI + cs.LG (the full AI/ML/NLP slice holds 444,205 papers; cs.AI alone 188,749)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Task — </a:t>
            </a:r>
            <a:r>
              <a:rPr sz="1700">
                <a:solidFill>
                  <a:srgbClr val="333842"/>
                </a:solidFill>
              </a:rPr>
              <a:t>answer natural-language questions about papers: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“Give me the abstract of paper X” · “What is the most recent paper?” · “Which paper is in stat.ML?”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Key idea — </a:t>
            </a:r>
            <a:r>
              <a:rPr sz="1700">
                <a:solidFill>
                  <a:srgbClr val="333842"/>
                </a:solidFill>
              </a:rPr>
              <a:t>hybrid retrieval: semantic search over abstracts + SPARQL over a metadata knowledge graph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abstracts hold the text; the graph holds what abstracts don’t say (authorship, categories, dates, DOIs)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answering well needs both — the two artifacts complement each other by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1 ·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Dataset: a reproducible 100-paper 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Reservoir sampling </a:t>
            </a:r>
            <a:r>
              <a:rPr sz="1700">
                <a:solidFill>
                  <a:srgbClr val="333842"/>
                </a:solidFill>
              </a:rPr>
              <a:t>— 100 papers drawn from cs.AI + cs.LG in a single streaming pass over the 5 GB snapshot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Fixed seed (42) </a:t>
            </a:r>
            <a:r>
              <a:rPr sz="1700">
                <a:solidFill>
                  <a:srgbClr val="333842"/>
                </a:solidFill>
              </a:rPr>
              <a:t>— the same command always rebuilds the identical dataset; papers without an abstract are skipped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python -m kg_extraction.build_kg --sample 100 --categories cs.AI cs.LG --seed 42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Hand-curation rejected </a:t>
            </a:r>
            <a:r>
              <a:rPr sz="1700">
                <a:solidFill>
                  <a:srgbClr val="333842"/>
                </a:solidFill>
              </a:rPr>
              <a:t>— an automated, seeded sample wins on the reproducibility criterion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Connectivity check </a:t>
            </a:r>
            <a:r>
              <a:rPr sz="1700">
                <a:solidFill>
                  <a:srgbClr val="333842"/>
                </a:solidFill>
              </a:rPr>
              <a:t>— via categories the sample is one connected component; via authors it is sparse (25 shared authors)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themed samples (“reinforcement learning”, “transformer”…) buy little real author connectivity → unbiased random kept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54480" y="5074920"/>
          <a:ext cx="914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Papers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Authors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Categories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Relationships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3842"/>
                          </a:solidFill>
                        </a:rPr>
                        <a:t>100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3842"/>
                          </a:solidFill>
                        </a:rPr>
                        <a:t>433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3842"/>
                          </a:solidFill>
                        </a:rPr>
                        <a:t>45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3842"/>
                          </a:solidFill>
                        </a:rPr>
                        <a:t>578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3842"/>
                          </a:solidFill>
                        </a:rPr>
                        <a:t>725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Two complementary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4754880" cy="1371600"/>
          </a:xfrm>
          <a:prstGeom prst="roundRect">
            <a:avLst/>
          </a:prstGeom>
          <a:solidFill>
            <a:srgbClr val="2E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CORPUS (CSV → FAISS index)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title + abstract per paper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the text to retrieve 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54480"/>
            <a:ext cx="4754880" cy="13716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</a:rPr>
              <a:t>KNOWLEDGE GRAPH (Turtle / RDF)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authorship · categories · dates · DOIs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the structure to reason 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200400"/>
            <a:ext cx="6858000" cy="502920"/>
          </a:xfrm>
          <a:prstGeom prst="round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>
                <a:solidFill>
                  <a:srgbClr val="FFFFFF"/>
                </a:solidFill>
              </a:rPr>
              <a:t>join key: https://arxiv.org/abs/&lt;id&gt; — the paper URI is identical in both, a 1:1 alignment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2240280"/>
            <a:ext cx="1005840" cy="0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577840" y="2377440"/>
            <a:ext cx="1005840" cy="0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977639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E8734A"/>
                </a:solidFill>
              </a:rPr>
              <a:t>•  </a:t>
            </a:r>
            <a:r>
              <a:rPr sz="1600" b="1">
                <a:solidFill>
                  <a:srgbClr val="1F2A44"/>
                </a:solidFill>
              </a:rPr>
              <a:t>Design decision — LLM concept extraction was built, then dropped: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concepts mined from abstracts make the graph a subset of the corpus it pairs with — redundant by construction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scale was also prohibitive for the full slice (~51 days on a local GPU, or $100–200 in API calls)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734A"/>
                </a:solidFill>
              </a:rPr>
              <a:t>•  </a:t>
            </a:r>
            <a:r>
              <a:rPr sz="1600" b="1">
                <a:solidFill>
                  <a:srgbClr val="1F2A44"/>
                </a:solidFill>
              </a:rPr>
              <a:t>Result — </a:t>
            </a:r>
            <a:r>
              <a:rPr sz="1600">
                <a:solidFill>
                  <a:srgbClr val="333842"/>
                </a:solidFill>
              </a:rPr>
              <a:t>the build is deterministic and LLM-free; the language model works only at query time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E8734A"/>
                </a:solidFill>
              </a:rPr>
              <a:t>•  </a:t>
            </a:r>
            <a:r>
              <a:rPr sz="1600" b="1">
                <a:solidFill>
                  <a:srgbClr val="1F2A44"/>
                </a:solidFill>
              </a:rPr>
              <a:t>Boundary rule — </a:t>
            </a:r>
            <a:r>
              <a:rPr sz="1600">
                <a:solidFill>
                  <a:srgbClr val="333842"/>
                </a:solidFill>
              </a:rPr>
              <a:t>corpus = abstract text only; KG = metadata structure. Complementarity holds only if the two don’t overlap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Knowledge-graph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15568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577840"/>
                <a:gridCol w="42062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Node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IRI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Properties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https://arxiv.org/abs/&lt;arxiv_id&gt;  (real, dereferenceable)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title, abstract, date, DOI, journal ref, categories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Author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&lt;base&gt;/author/&lt;key&gt;   (foaf:Person)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name, paper_count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Category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&lt;base&gt;/category/&lt;name&gt;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label, paper_count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429000"/>
          <a:ext cx="1115568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73152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AUTHORED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Author → Paper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author order kept via an ordered kg:authorList (position)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IN_CATEGORY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 → Category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links every paper to its arXiv categories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920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Standard vocabularies </a:t>
            </a:r>
            <a:r>
              <a:rPr sz="1500">
                <a:solidFill>
                  <a:srgbClr val="333842"/>
                </a:solidFill>
              </a:rPr>
              <a:t>— Dublin Core, FOAF, BIBO → queryable without a custom ontology; the .ttl file is self-describing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Author deduplication </a:t>
            </a:r>
            <a:r>
              <a:rPr sz="1500">
                <a:solidFill>
                  <a:srgbClr val="333842"/>
                </a:solidFill>
              </a:rPr>
              <a:t>— coarse key: accent-stripped surname + initials (“E. L. Berger” = “Edward L. Berger”)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GraphDB optional </a:t>
            </a:r>
            <a:r>
              <a:rPr sz="1500">
                <a:solidFill>
                  <a:srgbClr val="333842"/>
                </a:solidFill>
              </a:rPr>
              <a:t>— the query pipeline loads the same .ttl into an in-process rdflib graph; no triplestore server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Architecture: the build half (kg_extraction/)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Pure Python standard library </a:t>
            </a:r>
            <a:r>
              <a:rPr sz="1700">
                <a:solidFill>
                  <a:srgbClr val="333842"/>
                </a:solidFill>
              </a:rPr>
              <a:t>— no LLM, no external services; the output is fully deterministic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Streaming JSONL reader </a:t>
            </a:r>
            <a:r>
              <a:rPr sz="1700">
                <a:solidFill>
                  <a:srgbClr val="333842"/>
                </a:solidFill>
              </a:rPr>
              <a:t>— one pass, constant memory over the 5 GB snapshot; reservoir sampling for reproducible draws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Flexible filters </a:t>
            </a:r>
            <a:r>
              <a:rPr sz="1700">
                <a:solidFill>
                  <a:srgbClr val="333842"/>
                </a:solidFill>
              </a:rPr>
              <a:t>— category prefixes, keyword search, hard limits, seeded random samples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Two outputs from one run: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RDF (Turtle / TriG) — the knowledge graph, importable into GraphDB or loadable with rdflib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flat article table (CSV / JSON) — the RAG corpus, later embedded into the FAISS index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Fast &amp; robust </a:t>
            </a:r>
            <a:r>
              <a:rPr sz="1700">
                <a:solidFill>
                  <a:srgbClr val="333842"/>
                </a:solidFill>
              </a:rPr>
              <a:t>— the full 444K-paper AI/ML/NLP slice builds in ~65 s; Ctrl-C writes what has been ingested so far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Architecture: the query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298448"/>
            <a:ext cx="2743200" cy="457200"/>
          </a:xfrm>
          <a:prstGeom prst="round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2084831"/>
            <a:ext cx="3291840" cy="7132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QuestionRouter (LLM)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→ {query_type, requested_title}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3108960" cy="713232"/>
          </a:xfrm>
          <a:prstGeom prst="roundRect">
            <a:avLst/>
          </a:prstGeom>
          <a:solidFill>
            <a:srgbClr val="2E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Canned SPARQL query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on the local .ttl (rdflib)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3108960" cy="7132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LLM selects the best title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(constrained to candidates)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3794760"/>
            <a:ext cx="3108960" cy="7132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LLM extracts a title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from the question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5074920"/>
            <a:ext cx="3291840" cy="713232"/>
          </a:xfrm>
          <a:prstGeom prst="roundRect">
            <a:avLst/>
          </a:prstGeom>
          <a:solidFill>
            <a:srgbClr val="2E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ArticleRetriever — FAISS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exact / partial / semantic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1528" y="6053328"/>
            <a:ext cx="6035040" cy="457200"/>
          </a:xfrm>
          <a:prstGeom prst="round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Answer LLM — returns the stored abstract verbatim  +  provenance footer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1755648"/>
            <a:ext cx="0" cy="329183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651760" y="2798064"/>
            <a:ext cx="2377440" cy="448056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78040" y="2798064"/>
            <a:ext cx="2331720" cy="996696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68880" y="3959352"/>
            <a:ext cx="0" cy="429768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17520" y="5102352"/>
            <a:ext cx="1691640" cy="292608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44968" y="4507992"/>
            <a:ext cx="1490472" cy="749808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5788152"/>
            <a:ext cx="0" cy="265176"/>
          </a:xfrm>
          <a:prstGeom prst="line">
            <a:avLst/>
          </a:prstGeom>
          <a:ln w="22225">
            <a:solidFill>
              <a:srgbClr val="1F2A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23360" y="3602736"/>
            <a:ext cx="4142232" cy="466344"/>
          </a:xfrm>
          <a:prstGeom prst="line">
            <a:avLst/>
          </a:prstGeom>
          <a:ln w="22225">
            <a:solidFill>
              <a:srgbClr val="5A606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72491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06B"/>
                </a:solidFill>
              </a:rPr>
              <a:t>query_type ≠ 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99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06B"/>
                </a:solidFill>
              </a:rPr>
              <a:t>query_type = 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06B"/>
                </a:solidFill>
              </a:rPr>
              <a:t>no titles → degrade to pure 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Routing: five canned SPARQL queries — never generated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15568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3891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query_type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Triggered by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The SPARQL finds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single_paper_author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“written by an author with only one paper”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papers whose author has paper_count = 1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published_in_2026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“published in 2026”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papers whose date starts with 2026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stat_ml_category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“in the stat.ML category”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papers linked to the stat.ML node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most_recent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“newest / latest / most recent”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top paper by date DESC, LIMIT 1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has_doi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“must have a DOI”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papers carrying a DOI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none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everything else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— (skips the graph, pure RAG)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The router never writes SPARQL </a:t>
            </a:r>
            <a:r>
              <a:rPr sz="1500">
                <a:solidFill>
                  <a:srgbClr val="333842"/>
                </a:solidFill>
              </a:rPr>
              <a:t>— it only picks a label and returns JSON {query_type, requested_title, reason}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Fail-safe parsing </a:t>
            </a:r>
            <a:r>
              <a:rPr sz="1500">
                <a:solidFill>
                  <a:srgbClr val="333842"/>
                </a:solidFill>
              </a:rPr>
              <a:t>— malformed or empty router output falls back to none (pure RAG), never to an error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These are exactly the questions the abstracts cannot answer </a:t>
            </a:r>
            <a:r>
              <a:rPr sz="1500">
                <a:solidFill>
                  <a:srgbClr val="333842"/>
                </a:solidFill>
              </a:rPr>
              <a:t>— the graph contributes structure, the corpus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Retrieval &amp; answering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Embeddings </a:t>
            </a:r>
            <a:r>
              <a:rPr sz="1700">
                <a:solidFill>
                  <a:srgbClr val="333842"/>
                </a:solidFill>
              </a:rPr>
              <a:t>— sentence-transformers all-MiniLM-L6-v2; L2-normalized vectors in a FAISS IndexFlatIP → inner product = cosine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Tiered matching </a:t>
            </a:r>
            <a:r>
              <a:rPr sz="1700">
                <a:solidFill>
                  <a:srgbClr val="333842"/>
                </a:solidFill>
              </a:rPr>
              <a:t>— cheap and exact before fuzzy: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606040"/>
          <a:ext cx="101498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67512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match_type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exact_title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normalized title matches exactly — short-circuits, no vector search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1.0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partial_title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one normalized title contains the other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cosine + 0.20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semantic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nearest neighbours from FAISS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cosine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Hallucination gate </a:t>
            </a:r>
            <a:r>
              <a:rPr sz="1500">
                <a:solidFill>
                  <a:srgbClr val="333842"/>
                </a:solidFill>
              </a:rPr>
              <a:t>— top-3 retrieved; the pipeline answers only if the best hit is an exact match or clears 0.35 similarity,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otherwise it returns “No matching article was found in the database.” — refusal instead of fabrication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Answering </a:t>
            </a:r>
            <a:r>
              <a:rPr sz="1500">
                <a:solidFill>
                  <a:srgbClr val="333842"/>
                </a:solidFill>
              </a:rPr>
              <a:t>— the model must return the stored abstract verbatim (temperature 0.0); no summarizing, rewriting, extending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Provenance footer </a:t>
            </a:r>
            <a:r>
              <a:rPr sz="1500">
                <a:solidFill>
                  <a:srgbClr val="333842"/>
                </a:solidFill>
              </a:rPr>
              <a:t>— every answer states: KG used? which SPARQL query? which resolved title?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8734A"/>
                </a:solidFill>
              </a:rPr>
              <a:t>•  </a:t>
            </a:r>
            <a:r>
              <a:rPr sz="1500" b="1">
                <a:solidFill>
                  <a:srgbClr val="1F2A44"/>
                </a:solidFill>
              </a:rPr>
              <a:t>Interfaces </a:t>
            </a:r>
            <a:r>
              <a:rPr sz="1500">
                <a:solidFill>
                  <a:srgbClr val="333842"/>
                </a:solidFill>
              </a:rPr>
              <a:t>— interactive CLI (python -m rag.main) and a Flask chat UI (POST /ask)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3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Security: threat model &amp; how we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Attacker model </a:t>
            </a:r>
            <a:r>
              <a:rPr sz="1700">
                <a:solidFill>
                  <a:srgbClr val="333842"/>
                </a:solidFill>
              </a:rPr>
              <a:t>— anyone who can influence corpus content (the whole world publishes to arXiv) or craft questions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Surface 1: the corpus </a:t>
            </a:r>
            <a:r>
              <a:rPr sz="1700">
                <a:solidFill>
                  <a:srgbClr val="333842"/>
                </a:solidFill>
              </a:rPr>
              <a:t>— retrieved abstracts are third-party text placed in the LLM context → indirect prompt injection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Surface 2: the question </a:t>
            </a:r>
            <a:r>
              <a:rPr sz="1700">
                <a:solidFill>
                  <a:srgbClr val="333842"/>
                </a:solidFill>
              </a:rPr>
              <a:t>— direct jailbreaks trying to break scope, leak the system prompt, or force fabrication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Surface 3: identity </a:t>
            </a:r>
            <a:r>
              <a:rPr sz="1700">
                <a:solidFill>
                  <a:srgbClr val="333842"/>
                </a:solidFill>
              </a:rPr>
              <a:t>— coarse author keys merge distinct people; ambiguous names are an adversarial handle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How we tested — </a:t>
            </a:r>
            <a:r>
              <a:rPr sz="1700">
                <a:solidFill>
                  <a:srgbClr val="333842"/>
                </a:solidFill>
              </a:rPr>
              <a:t>an automated harness (python -m adversarial), gpt-4o-mini at temperature 0.0, 13 attacks / 3 tests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canary tokens (ADV-INJECT-7F3A, ADV-JAILBREAK-9K2Q) + a system-prompt marker: an attack “succeeds” only if one leaks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Honest scoring — </a:t>
            </a:r>
            <a:r>
              <a:rPr sz="1700">
                <a:solidFill>
                  <a:srgbClr val="333842"/>
                </a:solidFill>
              </a:rPr>
              <a:t>we also record the stage reached (retrieval vs generation) and whether the payload was truly delivered: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an attack blocked at the retrieval gate tests the architecture, not the model — only delivered payloads are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3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Security tests: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468880"/>
                <a:gridCol w="1965960"/>
                <a:gridCol w="1965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Reached the model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Payload delivered</a:t>
                      </a:r>
                    </a:p>
                  </a:txBody>
                  <a:tcPr marL="82296" marR="82296" marT="36576" marB="36576" anchor="ctr"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1 · Indirect prompt injection  (corpus poisoning)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5 got through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5 / 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5 / 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2 · Jailbreak  (direct chat input)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4 got through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4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4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3 · Piggyback jailbreak  (payload on a real paper)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4 got through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4 / 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2 / 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Total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0 / 13 got through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9 / 13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3842"/>
                          </a:solidFill>
                        </a:rPr>
                        <a:t>7 / 13</a:t>
                      </a:r>
                    </a:p>
                  </a:txBody>
                  <a:tcPr marL="82296" marR="82296" marT="36576" marB="36576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177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E8734A"/>
                </a:solidFill>
              </a:rPr>
              <a:t>•  </a:t>
            </a:r>
            <a:r>
              <a:rPr sz="1400" b="1">
                <a:solidFill>
                  <a:srgbClr val="1F2A44"/>
                </a:solidFill>
              </a:rPr>
              <a:t>Headline — </a:t>
            </a:r>
            <a:r>
              <a:rPr sz="1400">
                <a:solidFill>
                  <a:srgbClr val="333842"/>
                </a:solidFill>
              </a:rPr>
              <a:t>no attack (0 / 13) emitted a canary token or leaked the system prompt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E8734A"/>
                </a:solidFill>
              </a:rPr>
              <a:t>•  </a:t>
            </a:r>
            <a:r>
              <a:rPr sz="1400" b="1">
                <a:solidFill>
                  <a:srgbClr val="1F2A44"/>
                </a:solidFill>
              </a:rPr>
              <a:t>But the last two columns are what make that meaningful: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4 / 13 died at the retrieval gate — they never reached the model, so they test the architecture, not its resistance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2 more arrived with the payload already stripped by the router — the model was never actually asked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only 7 / 13 delivered the payload into the generation prompt — those are the real evidence, and the model held on all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3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What the tests revealed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Defense by bottleneck </a:t>
            </a:r>
            <a:r>
              <a:rPr sz="1700">
                <a:solidFill>
                  <a:srgbClr val="333842"/>
                </a:solidFill>
              </a:rPr>
              <a:t>— every question is funnelled through title-extraction + retrieval first, so a payload that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doesn’t look like a stored title dies before the model (all 4 direct jailbreaks). The architecture shrinks the surface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…but the bottleneck is bypassable </a:t>
            </a:r>
            <a:r>
              <a:rPr sz="1700">
                <a:solidFill>
                  <a:srgbClr val="333842"/>
                </a:solidFill>
              </a:rPr>
              <a:t>— dress the payload as a “subtitle” and assert it is the official title: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the router preserves it, nothing validates it against the corpus, and partial-title retrieval still matches (+0.20 bonus)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→ 2 attacks landed the payload verbatim in the generation prompt — and the model still refused them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Weakest link: title extraction </a:t>
            </a:r>
            <a:r>
              <a:rPr sz="1700">
                <a:solidFill>
                  <a:srgbClr val="333842"/>
                </a:solidFill>
              </a:rPr>
              <a:t>— that prompt has no untrusted-data rules; 2 jailbreaks captured it (its resolved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“title” became a chat refusal). It held only thanks to the base model’s own alignment, not our design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Resistance cost fidelity </a:t>
            </a:r>
            <a:r>
              <a:rPr sz="1700">
                <a:solidFill>
                  <a:srgbClr val="333842"/>
                </a:solidFill>
              </a:rPr>
              <a:t>— in 3 injection cases the model refused the payload but silently dropped legitimate abstract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text too, breaking the verbatim rule: a poisoned entry degrades to a quietly truncated answer, with no signal to the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3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Security: residual risk &amp; blast radius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Hardening is defense-in-depth, not a proof </a:t>
            </a:r>
            <a:r>
              <a:rPr sz="1700">
                <a:solidFill>
                  <a:srgbClr val="333842"/>
                </a:solidFill>
              </a:rPr>
              <a:t>— 2 attacks proved the payload can reach the model; it refused, but that is the model’s call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The robust guarantee is structural </a:t>
            </a:r>
            <a:r>
              <a:rPr sz="1700">
                <a:solidFill>
                  <a:srgbClr val="333842"/>
                </a:solidFill>
              </a:rPr>
              <a:t>— the pipeline has no tools and no write path: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 successful injection can corrupt at most one answer — it can never touch the graph, the index, or anything external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SPARQL injection eliminated by design </a:t>
            </a:r>
            <a:r>
              <a:rPr sz="1700">
                <a:solidFill>
                  <a:srgbClr val="333842"/>
                </a:solidFill>
              </a:rPr>
              <a:t>— the LLM never writes SPARQL; 5 fixed, reviewed queries on a read-only graph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Auditability </a:t>
            </a:r>
            <a:r>
              <a:rPr sz="1700">
                <a:solidFill>
                  <a:srgbClr val="333842"/>
                </a:solidFill>
              </a:rPr>
              <a:t>— the provenance footer on every answer records the path taken (KG used, SPARQL query, resolved title)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Gaps to close next: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add untrusted-data rules to the title-extraction prompt · validate the router’s title against the corpus (kills the subtitle bypass)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flag non-verbatim abstracts instead of silently truncating · finer author keys to stop cross-person attribution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734A"/>
                </a:solidFill>
              </a:rPr>
              <a:t>4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Main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Author entity resolution </a:t>
            </a:r>
            <a:r>
              <a:rPr sz="1700">
                <a:solidFill>
                  <a:srgbClr val="333842"/>
                </a:solidFill>
              </a:rPr>
              <a:t>— the coarse key merges distinct people: “li_s” holds 6 papers, almost certainly several researchers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consequences: wrong single_paper_author counts, cross-person attribution, inflated co-authorship connectivity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KG coverage </a:t>
            </a:r>
            <a:r>
              <a:rPr sz="1700">
                <a:solidFill>
                  <a:srgbClr val="333842"/>
                </a:solidFill>
              </a:rPr>
              <a:t>— only five canned queries; any other structured question falls back to pure RAG with no graph support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Shallow structure </a:t>
            </a:r>
            <a:r>
              <a:rPr sz="1700">
                <a:solidFill>
                  <a:srgbClr val="333842"/>
                </a:solidFill>
              </a:rPr>
              <a:t>— the sample connects mainly through two coarse category hubs; author links are sparse and partly spurious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Scale </a:t>
            </a:r>
            <a:r>
              <a:rPr sz="1700">
                <a:solidFill>
                  <a:srgbClr val="333842"/>
                </a:solidFill>
              </a:rPr>
              <a:t>— a 100-paper benchmark corpus; retrieval quality and latency at millions of papers are untested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One-paper answers </a:t>
            </a:r>
            <a:r>
              <a:rPr sz="1700">
                <a:solidFill>
                  <a:srgbClr val="333842"/>
                </a:solidFill>
              </a:rPr>
              <a:t>— the pipeline resolves to a single title and returns one verbatim abstract; no multi-paper synthesis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Query-time LLM dependency </a:t>
            </a:r>
            <a:r>
              <a:rPr sz="1700">
                <a:solidFill>
                  <a:srgbClr val="333842"/>
                </a:solidFill>
              </a:rPr>
              <a:t>— routing, title selection and answering each cost a model call: latency, cost, residual nondeterminism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50976"/>
            <a:ext cx="1005840" cy="406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B"/>
                </a:solidFill>
              </a:rPr>
              <a:t>KG-Augmented RAG over arXiv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6B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What works </a:t>
            </a:r>
            <a:r>
              <a:rPr sz="1700">
                <a:solidFill>
                  <a:srgbClr val="333842"/>
                </a:solidFill>
              </a:rPr>
              <a:t>— a deterministic, reproducible KG build; a corpus and a graph that genuinely complement each other;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an auditable hybrid query path with a hallucination-refusing retrieval gate and per-answer provenance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Security posture </a:t>
            </a:r>
            <a:r>
              <a:rPr sz="1700">
                <a:solidFill>
                  <a:srgbClr val="333842"/>
                </a:solidFill>
              </a:rPr>
              <a:t>— 0 / 13 adversarial attacks got through; surfaces closed by construction where possible (canned SPARQL,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no tools, no writes), hardened by prompting where not — with the blast radius bounded to a single corrupted answer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E8734A"/>
                </a:solidFill>
              </a:rPr>
              <a:t>•  </a:t>
            </a:r>
            <a:r>
              <a:rPr sz="1700" b="1">
                <a:solidFill>
                  <a:srgbClr val="1F2A44"/>
                </a:solidFill>
              </a:rPr>
              <a:t>Future work: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finer author resolution (full given names, name+affiliation blocking) to fix the merged-identity problem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validated SPARQL templates to widen KG coverage beyond the five canned queries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multi-paper answering and comparison instead of single-abstract responses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5A606B"/>
                </a:solidFill>
              </a:rPr>
              <a:t>     –  </a:t>
            </a:r>
            <a:r>
              <a:rPr sz="1450">
                <a:solidFill>
                  <a:srgbClr val="5A606B"/>
                </a:solidFill>
              </a:rPr>
              <a:t>scale-up test on the full 444K-paper slice; optional read-only GraphDB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734A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